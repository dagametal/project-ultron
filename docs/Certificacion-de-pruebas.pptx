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Parte del ciclo</c:v>
                </c:pt>
              </c:strCache>
            </c:strRef>
          </c:tx>
          <c:dPt>
            <c:idx val="0"/>
            <c:spPr>
              <a:solidFill>
                <a:srgbClr val="1F7A6B"/>
              </a:solidFill>
              <a:ln>
                <a:noFill/>
              </a:ln>
            </c:spPr>
          </c:dPt>
          <c:dPt>
            <c:idx val="1"/>
            <c:spPr>
              <a:solidFill>
                <a:srgbClr val="1B3E66"/>
              </a:solidFill>
              <a:ln>
                <a:noFill/>
              </a:ln>
            </c:spPr>
          </c:dPt>
          <c:dPt>
            <c:idx val="2"/>
            <c:spPr>
              <a:solidFill>
                <a:srgbClr val="A67C2D"/>
              </a:solidFill>
              <a:ln>
                <a:noFill/>
              </a:ln>
            </c:spPr>
          </c:dPt>
          <c:dPt>
            <c:idx val="3"/>
            <c:spPr>
              <a:solidFill>
                <a:srgbClr val="8A6A3B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Humo básico</c:v>
                </c:pt>
                <c:pt idx="1">
                  <c:v>Humo completo</c:v>
                </c:pt>
                <c:pt idx="2">
                  <c:v>Regresión</c:v>
                </c:pt>
                <c:pt idx="3">
                  <c:v>Cierre y evidencia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23</c:v>
                </c:pt>
                <c:pt idx="2">
                  <c:v>48</c:v>
                </c:pt>
                <c:pt idx="3">
                  <c:v>17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0E27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6EC"/>
            </a:solidFill>
          </a:ln>
        </c:spPr>
        <c:txPr>
          <a:bodyPr/>
          <a:lstStyle/>
          <a:p>
            <a:pPr>
              <a:defRPr sz="1100">
                <a:solidFill>
                  <a:srgbClr val="1A233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</c:scaling>
        <c:delete/>
        <c:axPos val="l"/>
        <c:majorGridlines>
          <c:spPr>
            <a:ln w="9525">
              <a:solidFill>
                <a:srgbClr val="E2E6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C6B7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Hallazgos</c:v>
                </c:pt>
              </c:strCache>
            </c:strRef>
          </c:tx>
          <c:dPt>
            <c:idx val="0"/>
            <c:spPr>
              <a:solidFill>
                <a:srgbClr val="1F7A6B"/>
              </a:solidFill>
              <a:ln>
                <a:noFill/>
              </a:ln>
            </c:spPr>
          </c:dPt>
          <c:dPt>
            <c:idx val="1"/>
            <c:spPr>
              <a:solidFill>
                <a:srgbClr val="1B3E66"/>
              </a:solidFill>
              <a:ln>
                <a:noFill/>
              </a:ln>
            </c:spPr>
          </c:dPt>
          <c:dPt>
            <c:idx val="2"/>
            <c:spPr>
              <a:solidFill>
                <a:srgbClr val="A67C2D"/>
              </a:solidFill>
              <a:ln>
                <a:noFill/>
              </a:ln>
            </c:spPr>
          </c:dPt>
          <c:dPt>
            <c:idx val="3"/>
            <c:spPr>
              <a:solidFill>
                <a:srgbClr val="B54708"/>
              </a:solidFill>
              <a:ln>
                <a:noFill/>
              </a:ln>
            </c:spPr>
          </c:dPt>
          <c:dPt>
            <c:idx val="4"/>
            <c:spPr>
              <a:solidFill>
                <a:srgbClr val="3D6B8C"/>
              </a:solidFill>
              <a:ln>
                <a:noFill/>
              </a:ln>
            </c:spPr>
          </c:dPt>
          <c:dPt>
            <c:idx val="5"/>
            <c:spPr>
              <a:solidFill>
                <a:srgbClr val="B42318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Funcional</c:v>
                </c:pt>
                <c:pt idx="1">
                  <c:v>Regresión</c:v>
                </c:pt>
                <c:pt idx="2">
                  <c:v>Datos</c:v>
                </c:pt>
                <c:pt idx="3">
                  <c:v>Configuración</c:v>
                </c:pt>
                <c:pt idx="4">
                  <c:v>Integración</c:v>
                </c:pt>
                <c:pt idx="5">
                  <c:v>Ambiente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24</c:v>
                </c:pt>
                <c:pt idx="2">
                  <c:v>15</c:v>
                </c:pt>
                <c:pt idx="3">
                  <c:v>12</c:v>
                </c:pt>
                <c:pt idx="4">
                  <c:v>11</c:v>
                </c:pt>
                <c:pt idx="5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Costo</c:v>
                </c:pt>
              </c:strCache>
            </c:strRef>
          </c:tx>
          <c:dPt>
            <c:idx val="0"/>
            <c:spPr>
              <a:solidFill>
                <a:srgbClr val="1F7A6B"/>
              </a:solidFill>
              <a:ln>
                <a:noFill/>
              </a:ln>
            </c:spPr>
          </c:dPt>
          <c:dPt>
            <c:idx val="1"/>
            <c:spPr>
              <a:solidFill>
                <a:srgbClr val="1B3E66"/>
              </a:solidFill>
              <a:ln>
                <a:noFill/>
              </a:ln>
            </c:spPr>
          </c:dPt>
          <c:dPt>
            <c:idx val="2"/>
            <c:spPr>
              <a:solidFill>
                <a:srgbClr val="B54708"/>
              </a:solidFill>
              <a:ln>
                <a:noFill/>
              </a:ln>
            </c:spPr>
          </c:dPt>
          <c:dPt>
            <c:idx val="3"/>
            <c:spPr>
              <a:solidFill>
                <a:srgbClr val="B42318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Construcción</c:v>
                </c:pt>
                <c:pt idx="1">
                  <c:v>Certificación</c:v>
                </c:pt>
                <c:pt idx="2">
                  <c:v>Validación</c:v>
                </c:pt>
                <c:pt idx="3">
                  <c:v>Producción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30</c:v>
                </c:pt>
              </c:numCache>
            </c:numRef>
          </c:val>
        </c:ser>
        <c:dLbls>
          <c:numFmt formatCode="0&quot;×&quot;" sourceLinked="0"/>
          <c:txPr>
            <a:bodyPr/>
            <a:lstStyle/>
            <a:p>
              <a:pPr>
                <a:defRPr sz="1200" b="1">
                  <a:solidFill>
                    <a:srgbClr val="0E27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6EC"/>
            </a:solidFill>
          </a:ln>
        </c:spPr>
        <c:txPr>
          <a:bodyPr/>
          <a:lstStyle/>
          <a:p>
            <a:pPr>
              <a:defRPr sz="1100">
                <a:solidFill>
                  <a:srgbClr val="1A233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C6B7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Release que sale</c:v>
                </c:pt>
              </c:strCache>
            </c:strRef>
          </c:tx>
          <c:spPr>
            <a:solidFill>
              <a:srgbClr val="1F7A6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Pasados</c:v>
                </c:pt>
                <c:pt idx="1">
                  <c:v>Fallidos</c:v>
                </c:pt>
                <c:pt idx="2">
                  <c:v>Bloqueados</c:v>
                </c:pt>
                <c:pt idx="3">
                  <c:v>Sin ejecutar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0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Release que no sale</c:v>
                </c:pt>
              </c:strCache>
            </c:strRef>
          </c:tx>
          <c:spPr>
            <a:solidFill>
              <a:srgbClr val="B42318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Pasados</c:v>
                </c:pt>
                <c:pt idx="1">
                  <c:v>Fallidos</c:v>
                </c:pt>
                <c:pt idx="2">
                  <c:v>Bloqueados</c:v>
                </c:pt>
                <c:pt idx="3">
                  <c:v>Sin ejecutar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</c:v>
                </c:pt>
                <c:pt idx="1">
                  <c:v>9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0E27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6EC"/>
            </a:solidFill>
          </a:ln>
        </c:spPr>
        <c:txPr>
          <a:bodyPr/>
          <a:lstStyle/>
          <a:p>
            <a:pPr>
              <a:defRPr sz="1100">
                <a:solidFill>
                  <a:srgbClr val="1A233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</c:scaling>
        <c:delete val="0"/>
        <c:axPos val="l"/>
        <c:majorGridlines>
          <c:spPr>
            <a:ln w="9525">
              <a:solidFill>
                <a:srgbClr val="E2E6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C6B7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1A2332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914400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1">
                <a:solidFill>
                  <a:srgbClr val="A67C2D"/>
                </a:solidFill>
                <a:latin typeface="Calibri"/>
              </a:rPr>
              <a:t>CANALES DIGITALES  ·  BANCA MÓVIL Y PORTAL BANCARIO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789920" cy="1874519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Certificación
de pruebas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657600"/>
            <a:ext cx="9326880" cy="7772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2000" b="0">
                <a:solidFill>
                  <a:srgbClr val="D5DEE8"/>
                </a:solidFill>
                <a:latin typeface="Calibri"/>
              </a:rPr>
              <a:t>Buenas prácticas, alcance, impacto de negocio,
riesgos, tipos de fallo y rollback.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17720"/>
            <a:ext cx="1920240" cy="41148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4937760"/>
            <a:ext cx="146304" cy="14630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64608"/>
            <a:ext cx="1737360" cy="292608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Alcance</a:t>
            </a:r>
          </a:p>
        </p:txBody>
      </p:sp>
      <p:sp>
        <p:nvSpPr>
          <p:cNvPr id="11" name="Oval 10"/>
          <p:cNvSpPr/>
          <p:nvPr/>
        </p:nvSpPr>
        <p:spPr>
          <a:xfrm>
            <a:off x="2807208" y="4937760"/>
            <a:ext cx="146304" cy="14630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4864608"/>
            <a:ext cx="1737360" cy="292608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Evidencia</a:t>
            </a:r>
          </a:p>
        </p:txBody>
      </p:sp>
      <p:sp>
        <p:nvSpPr>
          <p:cNvPr id="13" name="Oval 12"/>
          <p:cNvSpPr/>
          <p:nvPr/>
        </p:nvSpPr>
        <p:spPr>
          <a:xfrm>
            <a:off x="4956048" y="4937760"/>
            <a:ext cx="146304" cy="14630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4864608"/>
            <a:ext cx="1737360" cy="292608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Riesgo</a:t>
            </a:r>
          </a:p>
        </p:txBody>
      </p:sp>
      <p:sp>
        <p:nvSpPr>
          <p:cNvPr id="15" name="Oval 14"/>
          <p:cNvSpPr/>
          <p:nvPr/>
        </p:nvSpPr>
        <p:spPr>
          <a:xfrm>
            <a:off x="7104888" y="4937760"/>
            <a:ext cx="146304" cy="14630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4864608"/>
            <a:ext cx="1737360" cy="292608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Decisión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172200"/>
            <a:ext cx="7315200" cy="274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A9B8C9"/>
                </a:solidFill>
                <a:latin typeface="Calibri"/>
              </a:rPr>
              <a:t>Modelo para decidir si una versión sale, sale con condiciones o no sale.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2   /  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051560"/>
            <a:ext cx="557784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051560"/>
            <a:ext cx="73152" cy="153619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252728"/>
            <a:ext cx="109728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1F7A6B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1271016"/>
            <a:ext cx="40233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Qué se certifica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764792"/>
            <a:ext cx="502920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5C6B7A"/>
                </a:solidFill>
                <a:latin typeface="Calibri"/>
              </a:rPr>
              <a:t>La decisión que habilita la salida, no el cambio de un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051560"/>
            <a:ext cx="557784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051560"/>
            <a:ext cx="73152" cy="153619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1252728"/>
            <a:ext cx="109728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1F7A6B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1271016"/>
            <a:ext cx="40233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Alcance y capas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1764792"/>
            <a:ext cx="502920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5C6B7A"/>
                </a:solidFill>
                <a:latin typeface="Calibri"/>
              </a:rPr>
              <a:t>Qué entra, qué queda fuera y cómo se reparte el esfuerzo.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2743200"/>
            <a:ext cx="557784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2743200"/>
            <a:ext cx="73152" cy="153619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2944368"/>
            <a:ext cx="109728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1F7A6B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2962656"/>
            <a:ext cx="40233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Práctica y criterios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3456432"/>
            <a:ext cx="502920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5C6B7A"/>
                </a:solidFill>
                <a:latin typeface="Calibri"/>
              </a:rPr>
              <a:t>Entrada, salida y reglas que evitan un falso verde.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2743200"/>
            <a:ext cx="557784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2743200"/>
            <a:ext cx="73152" cy="153619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2944368"/>
            <a:ext cx="109728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1F7A6B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2962656"/>
            <a:ext cx="40233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Error, defecto y fallo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3456432"/>
            <a:ext cx="502920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5C6B7A"/>
                </a:solidFill>
                <a:latin typeface="Calibri"/>
              </a:rPr>
              <a:t>Dónde se corta la cadena antes del incidente.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4434840"/>
            <a:ext cx="557784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" y="4434840"/>
            <a:ext cx="73152" cy="1536192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4636007"/>
            <a:ext cx="109728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1F7A6B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73352" y="4654296"/>
            <a:ext cx="40233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Impacto y riesgos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148072"/>
            <a:ext cx="502920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5C6B7A"/>
                </a:solidFill>
                <a:latin typeface="Calibri"/>
              </a:rPr>
              <a:t>Qué le pasa al negocio y qué riesgo residual se acepta.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91072" y="4434840"/>
            <a:ext cx="557784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91072" y="4434840"/>
            <a:ext cx="73152" cy="1536192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4636007"/>
            <a:ext cx="109728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1F7A6B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4654296"/>
            <a:ext cx="40233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Rollback y evidencia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4" y="5148072"/>
            <a:ext cx="502920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5C6B7A"/>
                </a:solidFill>
                <a:latin typeface="Calibri"/>
              </a:rPr>
              <a:t>Cuándo revertir, cuándo no, y qué sostiene el veredicto.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Qué es certificar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3   /  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024128"/>
            <a:ext cx="11320272" cy="1234440"/>
          </a:xfrm>
          <a:prstGeom prst="roundRect">
            <a:avLst>
              <a:gd name="adj" fmla="val 6000"/>
            </a:avLst>
          </a:prstGeom>
          <a:solidFill>
            <a:srgbClr val="0E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70432"/>
            <a:ext cx="10835640" cy="960120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Certificar es reunir evidencia suficiente para declarar que una versión puede salir, puede salir con condiciones, o no debe salir. El estado en la herramienta es la consecuencia de esa decisión, no la decisión.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487168"/>
            <a:ext cx="365760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487168"/>
            <a:ext cx="3657600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24912"/>
            <a:ext cx="324612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Camino crítico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3246120" cy="11887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0">
                <a:solidFill>
                  <a:srgbClr val="1A2332"/>
                </a:solidFill>
                <a:latin typeface="Calibri"/>
              </a:rPr>
              <a:t>El cliente puede entrar y terminar la operación que este release toca.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2487168"/>
            <a:ext cx="365760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2487168"/>
            <a:ext cx="3657600" cy="73152"/>
          </a:xfrm>
          <a:prstGeom prst="rect">
            <a:avLst/>
          </a:prstGeom>
          <a:solidFill>
            <a:srgbClr val="1B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2724912"/>
            <a:ext cx="324612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Lo que ya operaba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200400"/>
            <a:ext cx="3246120" cy="11887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0">
                <a:solidFill>
                  <a:srgbClr val="1A2332"/>
                </a:solidFill>
                <a:latin typeface="Calibri"/>
              </a:rPr>
              <a:t>Los flujos estables de producción siguen respondiendo igual.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2487168"/>
            <a:ext cx="365760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2487168"/>
            <a:ext cx="3657600" cy="73152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724912"/>
            <a:ext cx="324612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Lo que falló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00400"/>
            <a:ext cx="3246120" cy="11887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0">
                <a:solidFill>
                  <a:srgbClr val="1A2332"/>
                </a:solidFill>
                <a:latin typeface="Calibri"/>
              </a:rPr>
              <a:t>Cada fallo tiene tipo, dueño y efecto. Si es bloqueante, no hay salida.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0">
                <a:solidFill>
                  <a:srgbClr val="5C6B7A"/>
                </a:solidFill>
                <a:latin typeface="Calibri"/>
              </a:rPr>
              <a:t>Una certificación sana deja explícito el riesgo residual: qué no se probó, qué falló y quién acepta salir así. Sin esa frase, el verde es solo una suma de casos.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La decisión que habilita la salida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4   /  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051560"/>
            <a:ext cx="3730752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51560"/>
            <a:ext cx="3730752" cy="1051560"/>
          </a:xfrm>
          <a:prstGeom prst="rect">
            <a:avLst/>
          </a:prstGeom>
          <a:solidFill>
            <a:srgbClr val="EC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170432"/>
            <a:ext cx="3337560" cy="43891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2600" b="1">
                <a:solidFill>
                  <a:srgbClr val="067647"/>
                </a:solidFill>
                <a:latin typeface="Calibri"/>
              </a:rPr>
              <a:t>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627632"/>
            <a:ext cx="33375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Sale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3383280" cy="3566160"/>
          </a:xfrm>
          <a:prstGeom prst="rect">
            <a:avLst/>
          </a:prstGeom>
          <a:noFill/>
        </p:spPr>
        <p:txBody>
          <a:bodyPr wrap="square" lIns="18288" rIns="36576" tIns="0" bIns="0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Sin bloqueantes abiertos.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Humo del canal en verde.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Regresión de flujos estables sin fallos.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Evidencia completa del camino crítico.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051560"/>
            <a:ext cx="3730752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51560"/>
            <a:ext cx="3730752" cy="1051560"/>
          </a:xfrm>
          <a:prstGeom prst="rect">
            <a:avLst/>
          </a:prstGeom>
          <a:solidFill>
            <a:srgbClr val="FF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170432"/>
            <a:ext cx="3337560" cy="43891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2600" b="1">
                <a:solidFill>
                  <a:srgbClr val="B54708"/>
                </a:solidFill>
                <a:latin typeface="Calibri"/>
              </a:rPr>
              <a:t>Condicionado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1627632"/>
            <a:ext cx="33375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Sale con aceptación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331720"/>
            <a:ext cx="3383280" cy="3566160"/>
          </a:xfrm>
          <a:prstGeom prst="rect">
            <a:avLst/>
          </a:prstGeom>
          <a:noFill/>
        </p:spPr>
        <p:txBody>
          <a:bodyPr wrap="square" lIns="18288" rIns="36576" tIns="0" bIns="0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Hay fallos que no bloquean la operación.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Producto acepta el residual por escrito.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Existe contención: flag, workaround o alcance recortado y dicho.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La fecha de corrección queda nombrada.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1312" y="1051560"/>
            <a:ext cx="3730752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11312" y="1051560"/>
            <a:ext cx="3730752" cy="1051560"/>
          </a:xfrm>
          <a:prstGeom prst="rect">
            <a:avLst/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170432"/>
            <a:ext cx="3337560" cy="43891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2600" b="1">
                <a:solidFill>
                  <a:srgbClr val="B42318"/>
                </a:solidFill>
                <a:latin typeface="Calibri"/>
              </a:rPr>
              <a:t>No-Go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627632"/>
            <a:ext cx="33375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No sale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331720"/>
            <a:ext cx="3383280" cy="3566160"/>
          </a:xfrm>
          <a:prstGeom prst="rect">
            <a:avLst/>
          </a:prstGeom>
          <a:noFill/>
        </p:spPr>
        <p:txBody>
          <a:bodyPr wrap="square" lIns="18288" rIns="36576" tIns="0" bIns="0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Fallo en camino crítico o en dinero.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Regresión de un flujo que hoy está en producción.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El verde no es confiable: ambiente o datos inválidos.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Falta la evidencia que sostiene la salida.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Alcance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621792"/>
            <a:ext cx="7315200" cy="256032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Lo que esta certificación sí cubre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5   /  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024128"/>
            <a:ext cx="56235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1444752"/>
            <a:ext cx="146304" cy="14630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152144"/>
            <a:ext cx="498348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0E2744"/>
                </a:solidFill>
                <a:latin typeface="Calibri"/>
              </a:rPr>
              <a:t>Versión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1499616"/>
            <a:ext cx="4983480" cy="62179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Historias, errores y cambios que salen en el release, identificados con la versión corregida.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024128"/>
            <a:ext cx="56235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1444752"/>
            <a:ext cx="146304" cy="14630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9984" y="1152144"/>
            <a:ext cx="498348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0E2744"/>
                </a:solidFill>
                <a:latin typeface="Calibri"/>
              </a:rPr>
              <a:t>Canal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4" y="1499616"/>
            <a:ext cx="4983480" cy="62179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El canal que realmente se publica: Banca Móvil, Portal Bancario, o ambos si ambos salen.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2322576"/>
            <a:ext cx="56235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3503" y="2743200"/>
            <a:ext cx="146304" cy="14630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2450592"/>
            <a:ext cx="498348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0E2744"/>
                </a:solidFill>
                <a:latin typeface="Calibri"/>
              </a:rPr>
              <a:t>Humo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798064"/>
            <a:ext cx="4983480" cy="62179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El camino crítico del canal responde después del despliegue del candidato.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2322576"/>
            <a:ext cx="56235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5664" y="2743200"/>
            <a:ext cx="146304" cy="14630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4" y="2450592"/>
            <a:ext cx="498348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0E2744"/>
                </a:solidFill>
                <a:latin typeface="Calibri"/>
              </a:rPr>
              <a:t>Regresión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2798064"/>
            <a:ext cx="4983480" cy="62179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El conjunto vigente de casos, completo. Lo que ya operaba no se asume: se ejecuta.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3621024"/>
            <a:ext cx="56235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3503" y="4041648"/>
            <a:ext cx="146304" cy="14630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749039"/>
            <a:ext cx="498348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0E2744"/>
                </a:solidFill>
                <a:latin typeface="Calibri"/>
              </a:rPr>
              <a:t>Criterios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096512"/>
            <a:ext cx="4983480" cy="62179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Cada historia se mira contra sus criterios de aceptación, no contra una impresión general.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3621024"/>
            <a:ext cx="56235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55664" y="4041648"/>
            <a:ext cx="146304" cy="14630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984" y="3749039"/>
            <a:ext cx="498348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0E2744"/>
                </a:solidFill>
                <a:latin typeface="Calibri"/>
              </a:rPr>
              <a:t>Ambiente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4096512"/>
            <a:ext cx="4983480" cy="62179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Flags, datos, usuarios y sesión del ambiente acordado. Un verde en otro ambiente no certifica.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" y="4919472"/>
            <a:ext cx="56235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03503" y="5340096"/>
            <a:ext cx="146304" cy="14630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5047488"/>
            <a:ext cx="498348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0E2744"/>
                </a:solidFill>
                <a:latin typeface="Calibri"/>
              </a:rPr>
              <a:t>Evidencia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" y="5394960"/>
            <a:ext cx="4983480" cy="62179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Veredicto por caso, adjunto del fallo y del flujo feliz crítico, ligados a la ejecución.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91072" y="4919472"/>
            <a:ext cx="56235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55664" y="5340096"/>
            <a:ext cx="146304" cy="14630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9984" y="5047488"/>
            <a:ext cx="498348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0E2744"/>
                </a:solidFill>
                <a:latin typeface="Calibri"/>
              </a:rPr>
              <a:t>Cierre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394960"/>
            <a:ext cx="4983480" cy="62179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QA cierra con evidencia y el producto recibe la versión para su validación. No la reemplaza.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Fuera de alcance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621792"/>
            <a:ext cx="7315200" cy="256032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Certificar también es decir qué no quedó cubierto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6   /  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005840"/>
            <a:ext cx="1132027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005840"/>
            <a:ext cx="73152" cy="78638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078992"/>
            <a:ext cx="107899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1">
                <a:solidFill>
                  <a:srgbClr val="0E2744"/>
                </a:solidFill>
                <a:latin typeface="Calibri"/>
              </a:rPr>
              <a:t>No se recorta el set en el 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3898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5C6B7A"/>
                </a:solidFill>
                <a:latin typeface="Calibri"/>
              </a:rPr>
              <a:t>Sacar casos de una ejecución se hace en esa ejecución. No se cambia el armado del release para una limpieza puntual.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1874519"/>
            <a:ext cx="1132027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1874519"/>
            <a:ext cx="73152" cy="78638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947672"/>
            <a:ext cx="107899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1">
                <a:solidFill>
                  <a:srgbClr val="0E2744"/>
                </a:solidFill>
                <a:latin typeface="Calibri"/>
              </a:rPr>
              <a:t>No se marca pasado un fallo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258568"/>
            <a:ext cx="10789920" cy="34747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5C6B7A"/>
                </a:solidFill>
                <a:latin typeface="Calibri"/>
              </a:rPr>
              <a:t>Un caso fallido sigue fallido. Cerrar la historia no reescribe el resultado.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2743200"/>
            <a:ext cx="1132027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2743200"/>
            <a:ext cx="73152" cy="78638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816352"/>
            <a:ext cx="107899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1">
                <a:solidFill>
                  <a:srgbClr val="0E2744"/>
                </a:solidFill>
                <a:latin typeface="Calibri"/>
              </a:rPr>
              <a:t>No se prueba con datos de clientes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127248"/>
            <a:ext cx="10789920" cy="34747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5C6B7A"/>
                </a:solidFill>
                <a:latin typeface="Calibri"/>
              </a:rPr>
              <a:t>La certificación usa datos de prueba. Un hallazgo de datos no se trata como defecto de producto hasta separarlo.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3611879"/>
            <a:ext cx="1132027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" y="3611879"/>
            <a:ext cx="73152" cy="78638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685031"/>
            <a:ext cx="107899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1">
                <a:solidFill>
                  <a:srgbClr val="0E2744"/>
                </a:solidFill>
                <a:latin typeface="Calibri"/>
              </a:rPr>
              <a:t>No sustituye la validación de producto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995928"/>
            <a:ext cx="10789920" cy="34747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5C6B7A"/>
                </a:solidFill>
                <a:latin typeface="Calibri"/>
              </a:rPr>
              <a:t>QA entrega evidencia y veredicto técnico. La aceptación de negocio la da producto.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4480560"/>
            <a:ext cx="1132027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" y="4480560"/>
            <a:ext cx="73152" cy="78638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553712"/>
            <a:ext cx="107899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1">
                <a:solidFill>
                  <a:srgbClr val="0E2744"/>
                </a:solidFill>
                <a:latin typeface="Calibri"/>
              </a:rPr>
              <a:t>No incluye lo que el release no pidió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864608"/>
            <a:ext cx="10789920" cy="34747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5C6B7A"/>
                </a:solidFill>
                <a:latin typeface="Calibri"/>
              </a:rPr>
              <a:t>Performance, seguridad ofensiva o continuidad entran solo si el alcance de la versión las nombra.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5349240"/>
            <a:ext cx="1132027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" y="5349240"/>
            <a:ext cx="73152" cy="78638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422392"/>
            <a:ext cx="107899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1">
                <a:solidFill>
                  <a:srgbClr val="0E2744"/>
                </a:solidFill>
                <a:latin typeface="Calibri"/>
              </a:rPr>
              <a:t>No se hereda un verde viejo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733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5C6B7A"/>
                </a:solidFill>
                <a:latin typeface="Calibri"/>
              </a:rPr>
              <a:t>Una certificación anterior no cubre este binario, estos flags ni esta combinación de historias.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Cuatro capas de certificación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7   /  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987552"/>
            <a:ext cx="281635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133856"/>
            <a:ext cx="329184" cy="32918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329184" cy="32918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152144"/>
            <a:ext cx="2103120" cy="310896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Humo básico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591056"/>
            <a:ext cx="2523744" cy="65836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El canal levanta y el camino crítico responde.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8416" y="987552"/>
            <a:ext cx="281635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4720" y="1133856"/>
            <a:ext cx="329184" cy="32918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133856"/>
            <a:ext cx="329184" cy="32918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6" y="1152144"/>
            <a:ext cx="2103120" cy="310896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Humo completo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591056"/>
            <a:ext cx="2523744" cy="65836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Lo nuevo de la versión no rompe lo que toca.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987552"/>
            <a:ext cx="281635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9088" y="1133856"/>
            <a:ext cx="329184" cy="32918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133856"/>
            <a:ext cx="329184" cy="32918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1152144"/>
            <a:ext cx="2103120" cy="310896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Regresión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1591056"/>
            <a:ext cx="2523744" cy="65836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Lo que ya estaba en producción sigue igual.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987552"/>
            <a:ext cx="281635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63456" y="1133856"/>
            <a:ext cx="329184" cy="329184"/>
          </a:xfrm>
          <a:prstGeom prst="ellipse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3456" y="1133856"/>
            <a:ext cx="329184" cy="32918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5792" y="1152144"/>
            <a:ext cx="2103120" cy="310896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Cierre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1591056"/>
            <a:ext cx="2523744" cy="65836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Evidencia, veredicto y pase a validación.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2606040"/>
            <a:ext cx="1143000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724912"/>
            <a:ext cx="731520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Esfuerzo relativo del ciclo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761488"/>
            <a:ext cx="4023360" cy="25603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Modelo de referencia, no un release real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548640" y="3063240"/>
          <a:ext cx="75895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8275320" y="3154680"/>
            <a:ext cx="105156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1F7A6B"/>
                </a:solidFill>
                <a:latin typeface="Calibri"/>
              </a:rPr>
              <a:t>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3154680"/>
            <a:ext cx="2331720" cy="5486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Saber si el canal está vivo.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867912"/>
            <a:ext cx="105156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1F7A6B"/>
                </a:solidFill>
                <a:latin typeface="Calibri"/>
              </a:rPr>
              <a:t>23%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867912"/>
            <a:ext cx="2331720" cy="5486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Cubrir lo que la versión cambia.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581144"/>
            <a:ext cx="105156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1F7A6B"/>
                </a:solidFill>
                <a:latin typeface="Calibri"/>
              </a:rPr>
              <a:t>48%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4581144"/>
            <a:ext cx="2331720" cy="5486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Proteger lo que el cliente ya usa.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294376"/>
            <a:ext cx="105156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1F7A6B"/>
                </a:solidFill>
                <a:latin typeface="Calibri"/>
              </a:rPr>
              <a:t>17%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5294376"/>
            <a:ext cx="2331720" cy="5486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Dejar la decisión defendible.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Buenas prácticas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8   /  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987552"/>
            <a:ext cx="571500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97280"/>
            <a:ext cx="53949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Salida escrita antes de ejecutar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63040"/>
            <a:ext cx="539496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El criterio de Go y de No-Go se acuerda antes del primer caso. No se negocia al ver el reloj de la ventana.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987552"/>
            <a:ext cx="571500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097280"/>
            <a:ext cx="53949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Un caso, un veredicto, una evidencia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463040"/>
            <a:ext cx="539496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Pasado, fallido o bloqueado. Cada uno con el respaldo que permite repetir la conclusión.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313432"/>
            <a:ext cx="571500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423160"/>
            <a:ext cx="53949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Bloqueante abierto impide el 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788920"/>
            <a:ext cx="539496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No hay promedio que compense un fallo de camino crítico o de efecto financiero.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313432"/>
            <a:ext cx="571500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2423160"/>
            <a:ext cx="53949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Separar producto, dato, ambiente y caso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788920"/>
            <a:ext cx="539496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Tratar un fallo de ambiente como defecto infla el rojo. Tratar un defecto como “el ambiente” esconde el incidente.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639312"/>
            <a:ext cx="571500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749039"/>
            <a:ext cx="53949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Alinear flags y datos antes de correr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114800"/>
            <a:ext cx="539496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La certificación empieza cuando el ambiente representa la salida, no cuando el pipeline terminó.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639312"/>
            <a:ext cx="571500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3749039"/>
            <a:ext cx="53949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Regresión sobre el set vigente, completo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4114800"/>
            <a:ext cx="539496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Agregar cobertura es válido. Recortar la ejecución para alcanzar la fecha no lo 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965192"/>
            <a:ext cx="571500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074920"/>
            <a:ext cx="53949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Rollback con dueño, antes de la ventana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440679"/>
            <a:ext cx="539496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La reversa se diseña en frío: quién decide, quién ejecuta, cómo se verifica el estado anterior.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1928" y="4965192"/>
            <a:ext cx="571500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5074920"/>
            <a:ext cx="5394960" cy="32918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Lo que no tiene evidencia no está certificado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5440679"/>
            <a:ext cx="539496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Un recuerdo de que “se vio bien” no sostiene una salida.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Criterios de entrada y de salida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9   /  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005840"/>
            <a:ext cx="370332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05840"/>
            <a:ext cx="3703320" cy="566928"/>
          </a:xfrm>
          <a:prstGeom prst="rect">
            <a:avLst/>
          </a:prstGeom>
          <a:solidFill>
            <a:srgbClr val="0E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78992"/>
            <a:ext cx="338328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3429000" cy="4206240"/>
          </a:xfrm>
          <a:prstGeom prst="rect">
            <a:avLst/>
          </a:prstGeom>
          <a:noFill/>
        </p:spPr>
        <p:txBody>
          <a:bodyPr wrap="square" lIns="18288" rIns="36576" tIns="0" bIns="0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Versión identificada y desplegada en el ambiente acordado.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Canal y alcance escritos.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Casos del set vigente disponibles.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Usuarios, datos y convenios listos.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Flags del release conocidos.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Login y camino crítico estables antes de la suite.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005840"/>
            <a:ext cx="370332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005840"/>
            <a:ext cx="3703320" cy="566928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078992"/>
            <a:ext cx="338328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Salida en 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1783080"/>
            <a:ext cx="3429000" cy="4206240"/>
          </a:xfrm>
          <a:prstGeom prst="rect">
            <a:avLst/>
          </a:prstGeom>
          <a:noFill/>
        </p:spPr>
        <p:txBody>
          <a:bodyPr wrap="square" lIns="18288" rIns="36576" tIns="0" bIns="0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Cero defectos bloqueantes abiertos.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Humo del canal ejecutado y en verde.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Regresión sin fallos de flujos estables.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Criterios de aceptación cubiertos, o brecha aceptada por escrito.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Evidencia asociada a la ejecución.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Producto puede tomar la validación.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005840"/>
            <a:ext cx="3675887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005840"/>
            <a:ext cx="3675887" cy="56692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078992"/>
            <a:ext cx="338328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Salida en No-Go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783080"/>
            <a:ext cx="3401568" cy="4206240"/>
          </a:xfrm>
          <a:prstGeom prst="rect">
            <a:avLst/>
          </a:prstGeom>
          <a:noFill/>
        </p:spPr>
        <p:txBody>
          <a:bodyPr wrap="square" lIns="18288" rIns="36576" tIns="0" bIns="0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Fallo de camino crítico o de movimiento de dinero.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Regresión de un flujo que hoy opera.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Bloqueantes sin contención aceptada.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Ambiente tan inestable que el verde no se puede creer.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Evidencia ausente en un caso que sostiene la salida.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–   Rollback no definido y la ventana ya empezó.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Error, defecto, fallo e incidente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10   /  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0">
                <a:solidFill>
                  <a:srgbClr val="5C6B7A"/>
                </a:solidFill>
                <a:latin typeface="Calibri"/>
              </a:rPr>
              <a:t>Son cuatro momentos distintos. Confundirlos hace que se cierre un defecto que es un caso mal escrito, o que se minimice un fallo que ya es incidente.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64592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645920"/>
            <a:ext cx="2697480" cy="91440"/>
          </a:xfrm>
          <a:prstGeom prst="rect">
            <a:avLst/>
          </a:prstGeom>
          <a:solidFill>
            <a:srgbClr val="0E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874519"/>
            <a:ext cx="237744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2000" b="1">
                <a:solidFill>
                  <a:srgbClr val="0E2744"/>
                </a:solidFill>
                <a:latin typeface="Calibri"/>
              </a:rPr>
              <a:t>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2331720"/>
            <a:ext cx="2395728" cy="1417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Alguien se equivoca: requisito ambiguo, código, dato de prueba o caso mal escrito.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468880"/>
            <a:ext cx="41148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ctr"/>
            <a:r>
              <a:rPr sz="2200" b="1">
                <a:solidFill>
                  <a:srgbClr val="A67C2D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164592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9272" y="1645920"/>
            <a:ext cx="2697480" cy="91440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5576" y="1874519"/>
            <a:ext cx="237744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2000" b="1">
                <a:solidFill>
                  <a:srgbClr val="1F7A6B"/>
                </a:solidFill>
                <a:latin typeface="Calibri"/>
              </a:rPr>
              <a:t>Defecto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2331720"/>
            <a:ext cx="2395728" cy="1417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Esa equivocación queda en el artefacto: producto, configuración o test.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2468880"/>
            <a:ext cx="41148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ctr"/>
            <a:r>
              <a:rPr sz="2200" b="1">
                <a:solidFill>
                  <a:srgbClr val="A67C2D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64592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645920"/>
            <a:ext cx="2697480" cy="91440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1874519"/>
            <a:ext cx="237744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2000" b="1">
                <a:solidFill>
                  <a:srgbClr val="B54708"/>
                </a:solidFill>
                <a:latin typeface="Calibri"/>
              </a:rPr>
              <a:t>Fallo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331720"/>
            <a:ext cx="2395728" cy="1417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Al ejecutar, el comportamiento observado no es el esperado.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2468880"/>
            <a:ext cx="41148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ctr"/>
            <a:r>
              <a:rPr sz="2200" b="1">
                <a:solidFill>
                  <a:srgbClr val="A67C2D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62872" y="164592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62872" y="1645920"/>
            <a:ext cx="2697480" cy="914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9176" y="1874519"/>
            <a:ext cx="237744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2000" b="1">
                <a:solidFill>
                  <a:srgbClr val="B42318"/>
                </a:solidFill>
                <a:latin typeface="Calibri"/>
              </a:rPr>
              <a:t>Incidente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2331720"/>
            <a:ext cx="2395728" cy="1417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El fallo lo vive el cliente o la operación, ya en producción.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" y="4206240"/>
            <a:ext cx="8549640" cy="1051560"/>
          </a:xfrm>
          <a:prstGeom prst="roundRect">
            <a:avLst>
              <a:gd name="adj" fmla="val 8000"/>
            </a:avLst>
          </a:prstGeom>
          <a:solidFill>
            <a:srgbClr val="E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4343400"/>
            <a:ext cx="822960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155E53"/>
                </a:solidFill>
                <a:latin typeface="Calibri"/>
              </a:rPr>
              <a:t>Aquí actúa la certificación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681728"/>
            <a:ext cx="8229600" cy="43891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Trabaja sobre fallos observados en el ambiente de prueba para que no crucen a incidente.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4206240"/>
            <a:ext cx="2761488" cy="1051560"/>
          </a:xfrm>
          <a:prstGeom prst="roundRect">
            <a:avLst>
              <a:gd name="adj" fmla="val 8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17152" y="4343400"/>
            <a:ext cx="246888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</a:rPr>
              <a:t>Esto ya es producción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7152" y="4681728"/>
            <a:ext cx="2468880" cy="43891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Rollback, comunicación y defecto. Ya no es un caso.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5C6B7A"/>
                </a:solidFill>
                <a:latin typeface="Calibri"/>
              </a:rPr>
              <a:t>Un error de caso produce un fallo del test y no un defecto de producto. Un defecto de producto produce un fallo reproducible con el dato correcto. La clasificación es parte del veredicto.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Tipos de hallazgo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11   /  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987552"/>
            <a:ext cx="690372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91440" cy="768096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52144"/>
            <a:ext cx="822960" cy="438912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600" b="1">
                <a:solidFill>
                  <a:srgbClr val="1F7A6B"/>
                </a:solidFill>
                <a:latin typeface="Calibri"/>
              </a:rPr>
              <a:t>28%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060704"/>
            <a:ext cx="55321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1">
                <a:solidFill>
                  <a:srgbClr val="0E2744"/>
                </a:solidFill>
                <a:latin typeface="Calibri"/>
              </a:rPr>
              <a:t>Funcional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371600"/>
            <a:ext cx="553212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El comportamiento nuevo no cumple el criterio de aceptación.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828800"/>
            <a:ext cx="690372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828800"/>
            <a:ext cx="91440" cy="768096"/>
          </a:xfrm>
          <a:prstGeom prst="rect">
            <a:avLst/>
          </a:prstGeom>
          <a:solidFill>
            <a:srgbClr val="1B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93392"/>
            <a:ext cx="822960" cy="438912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600" b="1">
                <a:solidFill>
                  <a:srgbClr val="1B3E66"/>
                </a:solidFill>
                <a:latin typeface="Calibri"/>
              </a:rPr>
              <a:t>24%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1901952"/>
            <a:ext cx="55321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1">
                <a:solidFill>
                  <a:srgbClr val="0E2744"/>
                </a:solidFill>
                <a:latin typeface="Calibri"/>
              </a:rPr>
              <a:t>Regresión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212848"/>
            <a:ext cx="553212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Algo que ya servía en producción deja de servir.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670048"/>
            <a:ext cx="690372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70048"/>
            <a:ext cx="91440" cy="768096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34640"/>
            <a:ext cx="822960" cy="438912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600" b="1">
                <a:solidFill>
                  <a:srgbClr val="A67C2D"/>
                </a:solidFill>
                <a:latin typeface="Calibri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743200"/>
            <a:ext cx="55321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1">
                <a:solidFill>
                  <a:srgbClr val="0E2744"/>
                </a:solidFill>
                <a:latin typeface="Calibri"/>
              </a:rPr>
              <a:t>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054096"/>
            <a:ext cx="553212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El caso o el ambiente no tienen el insumo correcto.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3511296"/>
            <a:ext cx="690372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3511296"/>
            <a:ext cx="91440" cy="768096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75888"/>
            <a:ext cx="822960" cy="438912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600" b="1">
                <a:solidFill>
                  <a:srgbClr val="B54708"/>
                </a:solidFill>
                <a:latin typeface="Calibri"/>
              </a:rPr>
              <a:t>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584448"/>
            <a:ext cx="55321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1">
                <a:solidFill>
                  <a:srgbClr val="0E2744"/>
                </a:solidFill>
                <a:latin typeface="Calibri"/>
              </a:rPr>
              <a:t>Configuración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895344"/>
            <a:ext cx="553212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Flag, parámetro o versión distintos a lo acordado.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4352544"/>
            <a:ext cx="690372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4352544"/>
            <a:ext cx="91440" cy="768096"/>
          </a:xfrm>
          <a:prstGeom prst="rect">
            <a:avLst/>
          </a:prstGeom>
          <a:solidFill>
            <a:srgbClr val="3D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517136"/>
            <a:ext cx="822960" cy="438912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600" b="1">
                <a:solidFill>
                  <a:srgbClr val="3D6B8C"/>
                </a:solidFill>
                <a:latin typeface="Calibri"/>
              </a:rPr>
              <a:t>11%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425696"/>
            <a:ext cx="55321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1">
                <a:solidFill>
                  <a:srgbClr val="0E2744"/>
                </a:solidFill>
                <a:latin typeface="Calibri"/>
              </a:rPr>
              <a:t>Integración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736592"/>
            <a:ext cx="553212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El contrato con otro servicio no responde como se esperaba.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5193792"/>
            <a:ext cx="690372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" y="5193792"/>
            <a:ext cx="91440" cy="76809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358384"/>
            <a:ext cx="822960" cy="438912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600" b="1">
                <a:solidFill>
                  <a:srgbClr val="B42318"/>
                </a:solidFill>
                <a:latin typeface="Calibri"/>
              </a:rPr>
              <a:t>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5266944"/>
            <a:ext cx="55321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1">
                <a:solidFill>
                  <a:srgbClr val="0E2744"/>
                </a:solidFill>
                <a:latin typeface="Calibri"/>
              </a:rPr>
              <a:t>Ambiente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5577840"/>
            <a:ext cx="553212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Caída, timeout o sesión ajenos al cambio bajo prueba.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987552"/>
            <a:ext cx="434340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5240" y="1097280"/>
            <a:ext cx="4023360" cy="274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1">
                <a:solidFill>
                  <a:srgbClr val="0E2744"/>
                </a:solidFill>
                <a:latin typeface="Calibri"/>
              </a:rPr>
              <a:t>Mezcla de referencia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7543800" y="1371600"/>
          <a:ext cx="41605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7589520" y="5779008"/>
            <a:ext cx="4114800" cy="5029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Distribución ilustrativa para leer un release. No es la medición de una versión.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Impacto de negocio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12   /  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932688"/>
            <a:ext cx="11338560" cy="4114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0">
                <a:solidFill>
                  <a:srgbClr val="5C6B7A"/>
                </a:solidFill>
                <a:latin typeface="Calibri"/>
              </a:rPr>
              <a:t>El hallazgo no vale por su tipo técnico. Vale por lo que le ocurre al cliente y a la operación si sale así.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417320"/>
            <a:ext cx="5989320" cy="1060704"/>
          </a:xfrm>
          <a:prstGeom prst="roundRect">
            <a:avLst>
              <a:gd name="adj" fmla="val 10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45336"/>
            <a:ext cx="30175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B42318"/>
                </a:solidFill>
                <a:latin typeface="Calibri"/>
              </a:rPr>
              <a:t>Bloqueante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545336"/>
            <a:ext cx="27889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300" b="1">
                <a:solidFill>
                  <a:srgbClr val="0E2744"/>
                </a:solidFill>
                <a:latin typeface="Calibri"/>
              </a:rPr>
              <a:t>No-Go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11095"/>
            <a:ext cx="5577840" cy="43891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No entra, no termina la operación, o el dinero queda mal.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587752"/>
            <a:ext cx="5989320" cy="1060704"/>
          </a:xfrm>
          <a:prstGeom prst="roundRect">
            <a:avLst>
              <a:gd name="adj" fmla="val 10000"/>
            </a:avLst>
          </a:prstGeom>
          <a:solidFill>
            <a:srgbClr val="FF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715768"/>
            <a:ext cx="30175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B54708"/>
                </a:solidFill>
                <a:latin typeface="Calibri"/>
              </a:rPr>
              <a:t>Alto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715768"/>
            <a:ext cx="27889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300" b="1">
                <a:solidFill>
                  <a:srgbClr val="0E2744"/>
                </a:solidFill>
                <a:latin typeface="Calibri"/>
              </a:rPr>
              <a:t>No-Go o condicionado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081528"/>
            <a:ext cx="5577840" cy="43891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El flujo principal solo sigue con un workaround frágil.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758184"/>
            <a:ext cx="5989320" cy="1060704"/>
          </a:xfrm>
          <a:prstGeom prst="roundRect">
            <a:avLst>
              <a:gd name="adj" fmla="val 10000"/>
            </a:avLst>
          </a:prstGeom>
          <a:solidFill>
            <a:srgbClr val="FB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886200"/>
            <a:ext cx="30175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A67C2D"/>
                </a:solidFill>
                <a:latin typeface="Calibri"/>
              </a:rPr>
              <a:t>Medio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886200"/>
            <a:ext cx="27889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300" b="1">
                <a:solidFill>
                  <a:srgbClr val="0E2744"/>
                </a:solidFill>
                <a:latin typeface="Calibri"/>
              </a:rPr>
              <a:t>Condicionado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251960"/>
            <a:ext cx="5577840" cy="43891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Camino secundario afectado. La operación principal sigue.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928616"/>
            <a:ext cx="5989320" cy="1060704"/>
          </a:xfrm>
          <a:prstGeom prst="roundRect">
            <a:avLst>
              <a:gd name="adj" fmla="val 10000"/>
            </a:avLst>
          </a:prstGeom>
          <a:solidFill>
            <a:srgbClr val="EC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056631"/>
            <a:ext cx="30175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067647"/>
                </a:solidFill>
                <a:latin typeface="Calibri"/>
              </a:rPr>
              <a:t>Bajo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056631"/>
            <a:ext cx="278892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300" b="1">
                <a:solidFill>
                  <a:srgbClr val="0E2744"/>
                </a:solidFill>
                <a:latin typeface="Calibri"/>
              </a:rPr>
              <a:t>Go, entra al backlog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422392"/>
            <a:ext cx="5577840" cy="43891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Copia, orden visual, sin efecto en la operación.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1417320"/>
            <a:ext cx="525780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1536192"/>
            <a:ext cx="4937760" cy="25603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1">
                <a:solidFill>
                  <a:srgbClr val="0E2744"/>
                </a:solidFill>
                <a:latin typeface="Calibri"/>
              </a:rPr>
              <a:t>Costo relativo de corregir el mismo defecto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629400" y="1874519"/>
          <a:ext cx="50292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720840" y="5532120"/>
            <a:ext cx="4937760" cy="45720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Escala ilustrativa de industria. Certificar existe para no pagar la barra roja.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Riesgos de certificar mal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13   /  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005840"/>
            <a:ext cx="57150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115568"/>
            <a:ext cx="534924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0E2744"/>
                </a:solidFill>
                <a:latin typeface="Calibri"/>
              </a:rPr>
              <a:t>Falso verde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481328"/>
            <a:ext cx="5349240" cy="10058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7A6B"/>
                </a:solidFill>
                <a:latin typeface="Calibri"/>
              </a:rPr>
              <a:t>Señal.  </a:t>
            </a:r>
            <a:r>
              <a:rPr sz="1300" b="0">
                <a:solidFill>
                  <a:srgbClr val="1A2332"/>
                </a:solidFill>
                <a:latin typeface="Calibri"/>
              </a:rPr>
              <a:t>El ambiente no representa la salida: otro flag, otro dato, otra versión.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B42318"/>
                </a:solidFill>
                <a:latin typeface="Calibri"/>
              </a:rPr>
              <a:t>Efecto.  </a:t>
            </a:r>
            <a:r>
              <a:rPr sz="1300" b="0">
                <a:solidFill>
                  <a:srgbClr val="1A2332"/>
                </a:solidFill>
                <a:latin typeface="Calibri"/>
              </a:rPr>
              <a:t>Incidente el día de la publicación, con evidencia que “pasó”.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005840"/>
            <a:ext cx="57150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115568"/>
            <a:ext cx="534924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0E2744"/>
                </a:solidFill>
                <a:latin typeface="Calibri"/>
              </a:rPr>
              <a:t>Falso rojo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1481328"/>
            <a:ext cx="5349240" cy="10058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7A6B"/>
                </a:solidFill>
                <a:latin typeface="Calibri"/>
              </a:rPr>
              <a:t>Señal.  </a:t>
            </a:r>
            <a:r>
              <a:rPr sz="1300" b="0">
                <a:solidFill>
                  <a:srgbClr val="1A2332"/>
                </a:solidFill>
                <a:latin typeface="Calibri"/>
              </a:rPr>
              <a:t>Se bloquea el release por un caso mal escrito o un dato de prueba.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B42318"/>
                </a:solidFill>
                <a:latin typeface="Calibri"/>
              </a:rPr>
              <a:t>Efecto.  </a:t>
            </a:r>
            <a:r>
              <a:rPr sz="1300" b="0">
                <a:solidFill>
                  <a:srgbClr val="1A2332"/>
                </a:solidFill>
                <a:latin typeface="Calibri"/>
              </a:rPr>
              <a:t>Se pierde la ventana y se desgasta la señal de los bloqueantes reales.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743200"/>
            <a:ext cx="57150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852928"/>
            <a:ext cx="534924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0E2744"/>
                </a:solidFill>
                <a:latin typeface="Calibri"/>
              </a:rPr>
              <a:t>Alcance recortado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3218688"/>
            <a:ext cx="5349240" cy="10058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7A6B"/>
                </a:solidFill>
                <a:latin typeface="Calibri"/>
              </a:rPr>
              <a:t>Señal.  </a:t>
            </a:r>
            <a:r>
              <a:rPr sz="1300" b="0">
                <a:solidFill>
                  <a:srgbClr val="1A2332"/>
                </a:solidFill>
                <a:latin typeface="Calibri"/>
              </a:rPr>
              <a:t>Se deja fuera la regresión para alcanzar la fecha.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B42318"/>
                </a:solidFill>
                <a:latin typeface="Calibri"/>
              </a:rPr>
              <a:t>Efecto.  </a:t>
            </a:r>
            <a:r>
              <a:rPr sz="1300" b="0">
                <a:solidFill>
                  <a:srgbClr val="1A2332"/>
                </a:solidFill>
                <a:latin typeface="Calibri"/>
              </a:rPr>
              <a:t>Un flujo estable se rompe fuera de lo que el release decía cambiar.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743200"/>
            <a:ext cx="57150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2852928"/>
            <a:ext cx="534924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0E2744"/>
                </a:solidFill>
                <a:latin typeface="Calibri"/>
              </a:rPr>
              <a:t>Riesgo residual mudo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218688"/>
            <a:ext cx="5349240" cy="10058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7A6B"/>
                </a:solidFill>
                <a:latin typeface="Calibri"/>
              </a:rPr>
              <a:t>Señal.  </a:t>
            </a:r>
            <a:r>
              <a:rPr sz="1300" b="0">
                <a:solidFill>
                  <a:srgbClr val="1A2332"/>
                </a:solidFill>
                <a:latin typeface="Calibri"/>
              </a:rPr>
              <a:t>Se sale con fallos sin que negocio los haya aceptado.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B42318"/>
                </a:solidFill>
                <a:latin typeface="Calibri"/>
              </a:rPr>
              <a:t>Efecto.  </a:t>
            </a:r>
            <a:r>
              <a:rPr sz="1300" b="0">
                <a:solidFill>
                  <a:srgbClr val="1A2332"/>
                </a:solidFill>
                <a:latin typeface="Calibri"/>
              </a:rPr>
              <a:t>Nadie es dueño del defecto cuando el cliente lo encuentra.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480560"/>
            <a:ext cx="57150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4590288"/>
            <a:ext cx="534924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0E2744"/>
                </a:solidFill>
                <a:latin typeface="Calibri"/>
              </a:rPr>
              <a:t>Rollback improvisado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4956048"/>
            <a:ext cx="5349240" cy="10058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7A6B"/>
                </a:solidFill>
                <a:latin typeface="Calibri"/>
              </a:rPr>
              <a:t>Señal.  </a:t>
            </a:r>
            <a:r>
              <a:rPr sz="1300" b="0">
                <a:solidFill>
                  <a:srgbClr val="1A2332"/>
                </a:solidFill>
                <a:latin typeface="Calibri"/>
              </a:rPr>
              <a:t>La reversa se diseña durante el incidente.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B42318"/>
                </a:solidFill>
                <a:latin typeface="Calibri"/>
              </a:rPr>
              <a:t>Efecto.  </a:t>
            </a:r>
            <a:r>
              <a:rPr sz="1300" b="0">
                <a:solidFill>
                  <a:srgbClr val="1A2332"/>
                </a:solidFill>
                <a:latin typeface="Calibri"/>
              </a:rPr>
              <a:t>La ventana de recuperación dura más que el beneficio de haber salido.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4480560"/>
            <a:ext cx="57150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4590288"/>
            <a:ext cx="534924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0E2744"/>
                </a:solidFill>
                <a:latin typeface="Calibri"/>
              </a:rPr>
              <a:t>Evidencia ausente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956048"/>
            <a:ext cx="5349240" cy="10058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7A6B"/>
                </a:solidFill>
                <a:latin typeface="Calibri"/>
              </a:rPr>
              <a:t>Señal.  </a:t>
            </a:r>
            <a:r>
              <a:rPr sz="1300" b="0">
                <a:solidFill>
                  <a:srgbClr val="1A2332"/>
                </a:solidFill>
                <a:latin typeface="Calibri"/>
              </a:rPr>
              <a:t>El veredicto vive en un chat y no en la ejecución.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B42318"/>
                </a:solidFill>
                <a:latin typeface="Calibri"/>
              </a:rPr>
              <a:t>Efecto.  </a:t>
            </a:r>
            <a:r>
              <a:rPr sz="1300" b="0">
                <a:solidFill>
                  <a:srgbClr val="1A2332"/>
                </a:solidFill>
                <a:latin typeface="Calibri"/>
              </a:rPr>
              <a:t>No se puede defender el Go ni reconstruir qué se probó.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Matriz de riesgo residual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621792"/>
            <a:ext cx="7315200" cy="256032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Probabilidad de que el fallo llegue al cliente  ×  impacto si llega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14   /  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987552"/>
            <a:ext cx="2194560" cy="25603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ctr"/>
            <a:r>
              <a:rPr sz="1100" b="1">
                <a:solidFill>
                  <a:srgbClr val="5C6B7A"/>
                </a:solidFill>
                <a:latin typeface="Calibri"/>
              </a:rPr>
              <a:t>Impacto bajo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987552"/>
            <a:ext cx="2926080" cy="25603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ctr"/>
            <a:r>
              <a:rPr sz="1100" b="1">
                <a:solidFill>
                  <a:srgbClr val="5C6B7A"/>
                </a:solidFill>
                <a:latin typeface="Calibri"/>
              </a:rPr>
              <a:t>Impacto 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987552"/>
            <a:ext cx="3200400" cy="25603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ctr"/>
            <a:r>
              <a:rPr sz="1100" b="1">
                <a:solidFill>
                  <a:srgbClr val="5C6B7A"/>
                </a:solidFill>
                <a:latin typeface="Calibri"/>
              </a:rPr>
              <a:t>Impacto alto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417320"/>
            <a:ext cx="1691640" cy="1234440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200" b="1">
                <a:solidFill>
                  <a:srgbClr val="0E2744"/>
                </a:solidFill>
                <a:latin typeface="Calibri"/>
              </a:rPr>
              <a:t>Probabilidad alta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1353312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FF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31136" y="1463040"/>
            <a:ext cx="283464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1">
                <a:solidFill>
                  <a:srgbClr val="B54708"/>
                </a:solidFill>
                <a:latin typeface="Calibri"/>
              </a:rPr>
              <a:t>Caso mal escrito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1856232"/>
            <a:ext cx="2834640" cy="7772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Ruido. Se corrige el test, no se frena el canal.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1353312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FF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77255" y="1463040"/>
            <a:ext cx="283464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1">
                <a:solidFill>
                  <a:srgbClr val="B54708"/>
                </a:solidFill>
                <a:latin typeface="Calibri"/>
              </a:rPr>
              <a:t>Ambiente desalineado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7255" y="1856232"/>
            <a:ext cx="2834640" cy="7772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El verde no sirve. No se certifica hasta alinearlo.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59" y="1353312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23376" y="1463040"/>
            <a:ext cx="283464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1">
                <a:solidFill>
                  <a:srgbClr val="B42318"/>
                </a:solidFill>
                <a:latin typeface="Calibri"/>
              </a:rPr>
              <a:t>Salir sin regresión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1856232"/>
            <a:ext cx="2834640" cy="7772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Alta chance de romper un flujo que hoy opera.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2971800"/>
            <a:ext cx="1691640" cy="1234440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200" b="1">
                <a:solidFill>
                  <a:srgbClr val="0E2744"/>
                </a:solidFill>
                <a:latin typeface="Calibri"/>
              </a:rPr>
              <a:t>Probabilidad media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120" y="2907791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EC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31136" y="3017520"/>
            <a:ext cx="283464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1">
                <a:solidFill>
                  <a:srgbClr val="067647"/>
                </a:solidFill>
                <a:latin typeface="Calibri"/>
              </a:rPr>
              <a:t>Defecto cosmético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1136" y="3410711"/>
            <a:ext cx="2834640" cy="7772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Se documenta y sale, con backlog.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2907791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FF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77255" y="3017520"/>
            <a:ext cx="283464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1">
                <a:solidFill>
                  <a:srgbClr val="B54708"/>
                </a:solidFill>
                <a:latin typeface="Calibri"/>
              </a:rPr>
              <a:t>Flag distinto al acordado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77255" y="3410711"/>
            <a:ext cx="2834640" cy="7772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Puede apagar o prender de más. Se confirma antes del Go.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59" y="2907791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23376" y="3017520"/>
            <a:ext cx="283464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1">
                <a:solidFill>
                  <a:srgbClr val="B42318"/>
                </a:solidFill>
                <a:latin typeface="Calibri"/>
              </a:rPr>
              <a:t>Falso verde en dinero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3376" y="3410711"/>
            <a:ext cx="2834640" cy="7772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Poco frecuente y suficiente para No-Go.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526280"/>
            <a:ext cx="1691640" cy="1234440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200" b="1">
                <a:solidFill>
                  <a:srgbClr val="0E2744"/>
                </a:solidFill>
                <a:latin typeface="Calibri"/>
              </a:rPr>
              <a:t>Probabilidad baja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3120" y="4462272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EC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31136" y="4572000"/>
            <a:ext cx="283464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1">
                <a:solidFill>
                  <a:srgbClr val="067647"/>
                </a:solidFill>
                <a:latin typeface="Calibri"/>
              </a:rPr>
              <a:t>Detalle de copia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31136" y="4965192"/>
            <a:ext cx="2834640" cy="7772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No mueve la decisión de salida.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49240" y="4462272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77255" y="4572000"/>
            <a:ext cx="283464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1">
                <a:solidFill>
                  <a:srgbClr val="1B3E66"/>
                </a:solidFill>
                <a:latin typeface="Calibri"/>
              </a:rPr>
              <a:t>Integración intermitente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77255" y="4965192"/>
            <a:ext cx="2834640" cy="7772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Se aísla: producto o dependencia. No se promedia.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5359" y="4462272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23376" y="4572000"/>
            <a:ext cx="283464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1">
                <a:solidFill>
                  <a:srgbClr val="B42318"/>
                </a:solidFill>
                <a:latin typeface="Calibri"/>
              </a:rPr>
              <a:t>Rollback no ensayado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3376" y="4965192"/>
            <a:ext cx="2834640" cy="7772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Poco probable hasta que hace falta. Ahí ya es tarde.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6016752"/>
            <a:ext cx="950976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Verde: se acepta y se documenta.   Ámbar: se contiene antes del Go.   Rojo: No-Go, o rollback si ya salió.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Rollback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15   /  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932688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0">
                <a:solidFill>
                  <a:srgbClr val="1A2332"/>
                </a:solidFill>
                <a:latin typeface="Calibri"/>
              </a:rPr>
              <a:t>Volver el canal al estado anterior porque el candidato ya no es tolerable en producción.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48640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B42318"/>
                </a:solidFill>
                <a:latin typeface="Calibri"/>
              </a:rPr>
              <a:t>Sí se dispara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48640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1F7A6B"/>
                </a:solidFill>
                <a:latin typeface="Calibri"/>
              </a:rPr>
              <a:t>No se dispara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1828800"/>
            <a:ext cx="5623560" cy="987552"/>
          </a:xfrm>
          <a:prstGeom prst="roundRect">
            <a:avLst>
              <a:gd name="adj" fmla="val 10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01952"/>
            <a:ext cx="5303520" cy="274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</a:rPr>
              <a:t>Camino crítico caído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12848"/>
            <a:ext cx="5303520" cy="53035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Login, consulta o cierre de la operación principal no se recuperan en la ventana y no hay contención inmediata.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623560" cy="987552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901952"/>
            <a:ext cx="5303520" cy="274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155E53"/>
                </a:solidFill>
                <a:latin typeface="Calibri"/>
              </a:rPr>
              <a:t>Defecto cosmético aceptado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212848"/>
            <a:ext cx="5303520" cy="53035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Producto dejó por escrito que sale y entra al backlog.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2926080"/>
            <a:ext cx="5623560" cy="987552"/>
          </a:xfrm>
          <a:prstGeom prst="roundRect">
            <a:avLst>
              <a:gd name="adj" fmla="val 10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99232"/>
            <a:ext cx="5303520" cy="274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</a:rPr>
              <a:t>Efecto financiero incorrecto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10128"/>
            <a:ext cx="5303520" cy="53035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Monto, destino, estado o duplicidad que el cliente o la operación no pueden absorber.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926080"/>
            <a:ext cx="5623560" cy="987552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999232"/>
            <a:ext cx="5303520" cy="274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155E53"/>
                </a:solidFill>
                <a:latin typeface="Calibri"/>
              </a:rPr>
              <a:t>Fallo del caso o del dato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310128"/>
            <a:ext cx="5303520" cy="53035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El producto no está mal. Se corrige el test o el insumo, no el binario.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023360"/>
            <a:ext cx="5623560" cy="987552"/>
          </a:xfrm>
          <a:prstGeom prst="roundRect">
            <a:avLst>
              <a:gd name="adj" fmla="val 10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96512"/>
            <a:ext cx="5303520" cy="274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</a:rPr>
              <a:t>Sin contención segura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07408"/>
            <a:ext cx="5303520" cy="53035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El defecto no se apaga con un flag sin introducir un riesgo nuevo.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023360"/>
            <a:ext cx="5623560" cy="987552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4096512"/>
            <a:ext cx="5303520" cy="274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155E53"/>
                </a:solidFill>
                <a:latin typeface="Calibri"/>
              </a:rPr>
              <a:t>Otro canal u otra versión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407408"/>
            <a:ext cx="5303520" cy="53035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El incidente no pertenece a lo que esta certificación autorizó.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5120640"/>
            <a:ext cx="5623560" cy="987552"/>
          </a:xfrm>
          <a:prstGeom prst="roundRect">
            <a:avLst>
              <a:gd name="adj" fmla="val 10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193792"/>
            <a:ext cx="5303520" cy="274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</a:rPr>
              <a:t>Parche más incierto que la reversa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04688"/>
            <a:ext cx="5303520" cy="53035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Corregir en caliente durante la ventana es menos predecible que volver atrás.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5120640"/>
            <a:ext cx="5623560" cy="987552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5193792"/>
            <a:ext cx="5303520" cy="274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155E53"/>
                </a:solidFill>
                <a:latin typeface="Calibri"/>
              </a:rPr>
              <a:t>Workaround estable y vigilado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5504688"/>
            <a:ext cx="5303520" cy="53035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Hay contención operada, dueño y criterio para revertir si crece.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Después de revertir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16   /  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097280"/>
            <a:ext cx="3730752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5216" y="1298448"/>
            <a:ext cx="420624" cy="420624"/>
          </a:xfrm>
          <a:prstGeom prst="ellipse">
            <a:avLst/>
          </a:prstGeom>
          <a:solidFill>
            <a:srgbClr val="0E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298448"/>
            <a:ext cx="420624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353312"/>
            <a:ext cx="2743200" cy="365760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Decidir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1920240"/>
            <a:ext cx="3337560" cy="12344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Negocio y tecnología nombran el rollback. Una sola persona ejecuta. El resto no improvisa cambios paralelos.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097280"/>
            <a:ext cx="3730752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98848" y="1298448"/>
            <a:ext cx="420624" cy="420624"/>
          </a:xfrm>
          <a:prstGeom prst="ellipse">
            <a:avLst/>
          </a:prstGeom>
          <a:solidFill>
            <a:srgbClr val="0E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298448"/>
            <a:ext cx="420624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353312"/>
            <a:ext cx="2743200" cy="365760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Revertir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920240"/>
            <a:ext cx="3337560" cy="12344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Se vuelve al artefacto y a la configuración del estado anterior. Flag y binario tienen que coincidir.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1312" y="1097280"/>
            <a:ext cx="3730752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1298448"/>
            <a:ext cx="420624" cy="420624"/>
          </a:xfrm>
          <a:prstGeom prst="ellipse">
            <a:avLst/>
          </a:prstGeom>
          <a:solidFill>
            <a:srgbClr val="0E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298448"/>
            <a:ext cx="420624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353312"/>
            <a:ext cx="2743200" cy="365760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Verificar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20240"/>
            <a:ext cx="3337560" cy="12344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Humo del estado restaurado: login y camino crítico. Un rollback sin humo no está terminado.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3566160"/>
            <a:ext cx="3730752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5216" y="3767328"/>
            <a:ext cx="420624" cy="42062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3767328"/>
            <a:ext cx="420624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3822192"/>
            <a:ext cx="2743200" cy="365760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Comunicar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4389120"/>
            <a:ext cx="3337560" cy="12344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Qué salió, qué volvió, a quién afecta y desde qué hora. Misma historia hacia operación, producto y soporte.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566160"/>
            <a:ext cx="3730752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98848" y="3767328"/>
            <a:ext cx="420624" cy="42062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8848" y="3767328"/>
            <a:ext cx="420624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822192"/>
            <a:ext cx="2743200" cy="365760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Abrir el defecto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389120"/>
            <a:ext cx="3337560" cy="12344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El fallo de producción queda como defecto, con evidencia. La versión no hereda el veredicto anterior.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11312" y="3566160"/>
            <a:ext cx="3730752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12480" y="3767328"/>
            <a:ext cx="420624" cy="420624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3767328"/>
            <a:ext cx="420624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822192"/>
            <a:ext cx="2743200" cy="365760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Recertificar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389120"/>
            <a:ext cx="3337560" cy="12344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El siguiente candidato entra de nuevo por las cuatro capas. No se “completa” la corrida vieja.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Evidencia mínima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17   /  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051560"/>
            <a:ext cx="3730752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51560"/>
            <a:ext cx="3730752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307592"/>
            <a:ext cx="3337560" cy="4114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Ejecución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828800"/>
            <a:ext cx="3337560" cy="137160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Identificada con versión, canal y ambiente. Sin eso, el resultado no se puede atribuir.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051560"/>
            <a:ext cx="3730752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51560"/>
            <a:ext cx="3730752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307592"/>
            <a:ext cx="3337560" cy="4114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Veredicto por caso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828800"/>
            <a:ext cx="3337560" cy="137160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Pasado, fallido o bloqueado. Sin estados intermedios inventados para poder cerrar.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1051560"/>
            <a:ext cx="3730752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2" y="1051560"/>
            <a:ext cx="3730752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307592"/>
            <a:ext cx="3337560" cy="4114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Fallo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828800"/>
            <a:ext cx="3337560" cy="137160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Pasos, dato usado, resultado esperado, resultado real y adjunto. Más la clasificación: producto, datos, ambiente o caso.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657600"/>
            <a:ext cx="3730752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657600"/>
            <a:ext cx="3730752" cy="73152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3913632"/>
            <a:ext cx="3337560" cy="4114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Camino crítico en verde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4434840"/>
            <a:ext cx="3337560" cy="137160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Evidencia del flujo feliz que sostiene el Go, no solo de los fallos.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657600"/>
            <a:ext cx="3730752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657600"/>
            <a:ext cx="3730752" cy="73152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3913632"/>
            <a:ext cx="3337560" cy="4114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Decisión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4434840"/>
            <a:ext cx="3337560" cy="137160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Go, condicionado o No-Go, con el nombre de quien acepta el riesgo residual.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11312" y="3657600"/>
            <a:ext cx="3730752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11312" y="3657600"/>
            <a:ext cx="3730752" cy="73152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913632"/>
            <a:ext cx="3337560" cy="4114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0E2744"/>
                </a:solidFill>
                <a:latin typeface="Calibri"/>
              </a:rPr>
              <a:t>Trazabilidad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434840"/>
            <a:ext cx="3337560" cy="137160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La historia, la ejecución y el comentario de evidencias se apuntan entre sí. El chat no es el registro.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2062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/>
            <a:r>
              <a:rPr sz="2600" b="1">
                <a:solidFill>
                  <a:srgbClr val="0E2744"/>
                </a:solidFill>
                <a:latin typeface="Calibri"/>
              </a:rPr>
              <a:t>Cómo se lee un 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960120" cy="41148"/>
          </a:xfrm>
          <a:prstGeom prst="rect">
            <a:avLst/>
          </a:prstGeom>
          <a:solidFill>
            <a:srgbClr val="A6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841248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Certificación de pruebas  ·  modelo de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37960"/>
            <a:ext cx="2057400" cy="237744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18   /  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960120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0">
                <a:solidFill>
                  <a:srgbClr val="5C6B7A"/>
                </a:solidFill>
                <a:latin typeface="Calibri"/>
              </a:rPr>
              <a:t>La misma cantidad de casos puede sostener una salida o impedirla. Mira la composición, no el total.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417320"/>
            <a:ext cx="114300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554480"/>
          <a:ext cx="73152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79" y="1691640"/>
            <a:ext cx="3611880" cy="274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0 fallidos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984248"/>
            <a:ext cx="361188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El que sale no esconde rojos dentro de un porcentaje alto de pasados.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697480"/>
            <a:ext cx="3611880" cy="274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9 fallidos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990088"/>
            <a:ext cx="361188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Con camino crítico o dinero en ese grupo, el release no sale.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703320"/>
            <a:ext cx="3611880" cy="274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Bloqueados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995928"/>
            <a:ext cx="361188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No suman como verde. O se desbloquean con criterio o quedan fuera del veredicto.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09160"/>
            <a:ext cx="3611880" cy="274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400" b="1">
                <a:solidFill>
                  <a:srgbClr val="0E2744"/>
                </a:solidFill>
                <a:latin typeface="Calibri"/>
              </a:rPr>
              <a:t>Sin ejecutar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001768"/>
            <a:ext cx="3611880" cy="6400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Es alcance no cubierto. Se dice, no se da por probado.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300" b="1">
                <a:solidFill>
                  <a:srgbClr val="A67C2D"/>
                </a:solidFill>
                <a:latin typeface="Calibri"/>
              </a:rPr>
              <a:t>PARA CERRAR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22960"/>
            <a:ext cx="10972800" cy="11887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Certificar es una decisión
de negocio con evidencia.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542032"/>
            <a:ext cx="164592" cy="164592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60120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Alcance dicho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61488"/>
            <a:ext cx="987552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0">
                <a:solidFill>
                  <a:srgbClr val="C5D0DC"/>
                </a:solidFill>
                <a:latin typeface="Calibri"/>
              </a:rPr>
              <a:t>Qué se probó, en qué canal y qué quedó fuera.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410712"/>
            <a:ext cx="164592" cy="164592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91840"/>
            <a:ext cx="960120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Fallo clasificado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30168"/>
            <a:ext cx="987552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0">
                <a:solidFill>
                  <a:srgbClr val="C5D0DC"/>
                </a:solidFill>
                <a:latin typeface="Calibri"/>
              </a:rPr>
              <a:t>Producto, datos, ambiente o caso. Cada uno con dueño.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279392"/>
            <a:ext cx="164592" cy="164592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60520"/>
            <a:ext cx="960120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Riesgo aceptado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498848"/>
            <a:ext cx="987552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0">
                <a:solidFill>
                  <a:srgbClr val="C5D0DC"/>
                </a:solidFill>
                <a:latin typeface="Calibri"/>
              </a:rPr>
              <a:t>Go, condicionado o No-Go, con nombre de quien lo firma.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164592" cy="164592"/>
          </a:xfrm>
          <a:prstGeom prst="ellipse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029200"/>
            <a:ext cx="9601200" cy="310896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Reversa lista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367528"/>
            <a:ext cx="987552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500" b="0">
                <a:solidFill>
                  <a:srgbClr val="C5D0DC"/>
                </a:solidFill>
                <a:latin typeface="Calibri"/>
              </a:rPr>
              <a:t>Rollback diseñado antes de la ventana, no durante el incidente.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058400" cy="3200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/>
            <a:r>
              <a:rPr sz="1600" b="1">
                <a:solidFill>
                  <a:srgbClr val="A67C2D"/>
                </a:solidFill>
                <a:latin typeface="Calibri"/>
              </a:rPr>
              <a:t>Sin esas cuatro frases, el release no está certificado: solo está ejecutado.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Certificación de pruebas</dc:title>
  <dc:subject>Alcance, buenas prácticas, impacto, riesgos, fallos y rollback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QA</cp:category>
</cp:coreProperties>
</file>